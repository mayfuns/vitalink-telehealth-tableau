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m Adetoyi" userId="7e81e1d6fa8fc368" providerId="LiveId" clId="{3C3DC834-3685-4743-B832-70FC510EA59C}"/>
    <pc:docChg chg="undo custSel addSld delSld modSld sldOrd">
      <pc:chgData name="Mariam Adetoyi" userId="7e81e1d6fa8fc368" providerId="LiveId" clId="{3C3DC834-3685-4743-B832-70FC510EA59C}" dt="2026-09-13T18:00:39.310" v="191" actId="478"/>
      <pc:docMkLst>
        <pc:docMk/>
      </pc:docMkLst>
      <pc:sldChg chg="modSp mod modClrScheme chgLayout">
        <pc:chgData name="Mariam Adetoyi" userId="7e81e1d6fa8fc368" providerId="LiveId" clId="{3C3DC834-3685-4743-B832-70FC510EA59C}" dt="2026-09-11T18:29:16.460" v="170" actId="700"/>
        <pc:sldMkLst>
          <pc:docMk/>
          <pc:sldMk cId="0" sldId="256"/>
        </pc:sldMkLst>
        <pc:spChg chg="mod">
          <ac:chgData name="Mariam Adetoyi" userId="7e81e1d6fa8fc368" providerId="LiveId" clId="{3C3DC834-3685-4743-B832-70FC510EA59C}" dt="2026-09-05T14:13:56.812" v="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14:08.544" v="22" actId="20577"/>
          <ac:spMkLst>
            <pc:docMk/>
            <pc:sldMk cId="0" sldId="256"/>
            <ac:spMk id="12" creationId="{00000000-0000-0000-0000-000000000000}"/>
          </ac:spMkLst>
        </pc:spChg>
        <pc:spChg chg="mod ord">
          <ac:chgData name="Mariam Adetoyi" userId="7e81e1d6fa8fc368" providerId="LiveId" clId="{3C3DC834-3685-4743-B832-70FC510EA59C}" dt="2026-09-11T18:29:16.460" v="170" actId="700"/>
          <ac:spMkLst>
            <pc:docMk/>
            <pc:sldMk cId="0" sldId="256"/>
            <ac:spMk id="25" creationId="{00000000-0000-0000-0000-000000000000}"/>
          </ac:spMkLst>
        </pc:spChg>
      </pc:sldChg>
      <pc:sldChg chg="addSp delSp modSp mod modClrScheme chgLayout">
        <pc:chgData name="Mariam Adetoyi" userId="7e81e1d6fa8fc368" providerId="LiveId" clId="{3C3DC834-3685-4743-B832-70FC510EA59C}" dt="2026-09-11T18:29:16.103" v="169" actId="700"/>
        <pc:sldMkLst>
          <pc:docMk/>
          <pc:sldMk cId="0" sldId="257"/>
        </pc:sldMkLst>
        <pc:spChg chg="mod">
          <ac:chgData name="Mariam Adetoyi" userId="7e81e1d6fa8fc368" providerId="LiveId" clId="{3C3DC834-3685-4743-B832-70FC510EA59C}" dt="2026-09-05T14:14:29.796" v="23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14:42.573" v="25" actId="14100"/>
          <ac:spMkLst>
            <pc:docMk/>
            <pc:sldMk cId="0" sldId="257"/>
            <ac:spMk id="8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14:49.677" v="27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15:04.043" v="29" actId="1410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15:12.229" v="30" actId="1410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15:24.718" v="33" actId="14100"/>
          <ac:spMkLst>
            <pc:docMk/>
            <pc:sldMk cId="0" sldId="257"/>
            <ac:spMk id="14" creationId="{00000000-0000-0000-0000-000000000000}"/>
          </ac:spMkLst>
        </pc:spChg>
        <pc:spChg chg="mod ord">
          <ac:chgData name="Mariam Adetoyi" userId="7e81e1d6fa8fc368" providerId="LiveId" clId="{3C3DC834-3685-4743-B832-70FC510EA59C}" dt="2026-09-11T18:29:16.103" v="169" actId="700"/>
          <ac:spMkLst>
            <pc:docMk/>
            <pc:sldMk cId="0" sldId="257"/>
            <ac:spMk id="25" creationId="{00000000-0000-0000-0000-000000000000}"/>
          </ac:spMkLst>
        </pc:spChg>
      </pc:sldChg>
      <pc:sldChg chg="delSp modSp mod ord modClrScheme chgLayout">
        <pc:chgData name="Mariam Adetoyi" userId="7e81e1d6fa8fc368" providerId="LiveId" clId="{3C3DC834-3685-4743-B832-70FC510EA59C}" dt="2026-09-13T18:00:10.758" v="188" actId="478"/>
        <pc:sldMkLst>
          <pc:docMk/>
          <pc:sldMk cId="0" sldId="258"/>
        </pc:sldMkLst>
        <pc:spChg chg="del">
          <ac:chgData name="Mariam Adetoyi" userId="7e81e1d6fa8fc368" providerId="LiveId" clId="{3C3DC834-3685-4743-B832-70FC510EA59C}" dt="2026-09-13T18:00:10.758" v="188" actId="478"/>
          <ac:spMkLst>
            <pc:docMk/>
            <pc:sldMk cId="0" sldId="258"/>
            <ac:spMk id="5" creationId="{00000000-0000-0000-0000-000000000000}"/>
          </ac:spMkLst>
        </pc:spChg>
        <pc:spChg chg="mod ord">
          <ac:chgData name="Mariam Adetoyi" userId="7e81e1d6fa8fc368" providerId="LiveId" clId="{3C3DC834-3685-4743-B832-70FC510EA59C}" dt="2026-09-11T18:29:13.876" v="167" actId="700"/>
          <ac:spMkLst>
            <pc:docMk/>
            <pc:sldMk cId="0" sldId="258"/>
            <ac:spMk id="25" creationId="{00000000-0000-0000-0000-000000000000}"/>
          </ac:spMkLst>
        </pc:spChg>
      </pc:sldChg>
      <pc:sldChg chg="delSp modSp mod modClrScheme chgLayout">
        <pc:chgData name="Mariam Adetoyi" userId="7e81e1d6fa8fc368" providerId="LiveId" clId="{3C3DC834-3685-4743-B832-70FC510EA59C}" dt="2026-09-11T18:29:13.588" v="166" actId="700"/>
        <pc:sldMkLst>
          <pc:docMk/>
          <pc:sldMk cId="0" sldId="259"/>
        </pc:sldMkLst>
        <pc:spChg chg="mod">
          <ac:chgData name="Mariam Adetoyi" userId="7e81e1d6fa8fc368" providerId="LiveId" clId="{3C3DC834-3685-4743-B832-70FC510EA59C}" dt="2026-09-05T14:16:44.862" v="41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6:26:18.626" v="160" actId="20577"/>
          <ac:spMkLst>
            <pc:docMk/>
            <pc:sldMk cId="0" sldId="259"/>
            <ac:spMk id="10" creationId="{00000000-0000-0000-0000-000000000000}"/>
          </ac:spMkLst>
        </pc:spChg>
        <pc:spChg chg="mod ord">
          <ac:chgData name="Mariam Adetoyi" userId="7e81e1d6fa8fc368" providerId="LiveId" clId="{3C3DC834-3685-4743-B832-70FC510EA59C}" dt="2026-09-11T18:29:13.588" v="166" actId="700"/>
          <ac:spMkLst>
            <pc:docMk/>
            <pc:sldMk cId="0" sldId="259"/>
            <ac:spMk id="25" creationId="{00000000-0000-0000-0000-000000000000}"/>
          </ac:spMkLst>
        </pc:spChg>
      </pc:sldChg>
      <pc:sldChg chg="addSp delSp modSp mod">
        <pc:chgData name="Mariam Adetoyi" userId="7e81e1d6fa8fc368" providerId="LiveId" clId="{3C3DC834-3685-4743-B832-70FC510EA59C}" dt="2026-09-05T14:25:32.230" v="69" actId="1076"/>
        <pc:sldMkLst>
          <pc:docMk/>
          <pc:sldMk cId="0" sldId="260"/>
        </pc:sldMkLst>
        <pc:spChg chg="mod">
          <ac:chgData name="Mariam Adetoyi" userId="7e81e1d6fa8fc368" providerId="LiveId" clId="{3C3DC834-3685-4743-B832-70FC510EA59C}" dt="2026-09-05T14:17:23.152" v="42" actId="1410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18:36.988" v="54" actId="14100"/>
          <ac:spMkLst>
            <pc:docMk/>
            <pc:sldMk cId="0" sldId="260"/>
            <ac:spMk id="24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22:38.078" v="60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22:44.371" v="61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23:18.231" v="65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25:20.768" v="68" actId="14100"/>
          <ac:spMkLst>
            <pc:docMk/>
            <pc:sldMk cId="0" sldId="260"/>
            <ac:spMk id="32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18:48.567" v="56" actId="107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25:32.230" v="69" actId="1076"/>
          <ac:spMkLst>
            <pc:docMk/>
            <pc:sldMk cId="0" sldId="260"/>
            <ac:spMk id="35" creationId="{00000000-0000-0000-0000-000000000000}"/>
          </ac:spMkLst>
        </pc:spChg>
      </pc:sldChg>
      <pc:sldChg chg="delSp modSp mod">
        <pc:chgData name="Mariam Adetoyi" userId="7e81e1d6fa8fc368" providerId="LiveId" clId="{3C3DC834-3685-4743-B832-70FC510EA59C}" dt="2026-09-13T17:59:53.108" v="187" actId="478"/>
        <pc:sldMkLst>
          <pc:docMk/>
          <pc:sldMk cId="0" sldId="261"/>
        </pc:sldMkLst>
        <pc:spChg chg="del mod">
          <ac:chgData name="Mariam Adetoyi" userId="7e81e1d6fa8fc368" providerId="LiveId" clId="{3C3DC834-3685-4743-B832-70FC510EA59C}" dt="2026-09-13T17:59:48.962" v="186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Mariam Adetoyi" userId="7e81e1d6fa8fc368" providerId="LiveId" clId="{3C3DC834-3685-4743-B832-70FC510EA59C}" dt="2026-09-13T17:59:53.108" v="187" actId="478"/>
          <ac:spMkLst>
            <pc:docMk/>
            <pc:sldMk cId="0" sldId="261"/>
            <ac:spMk id="5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26:32.188" v="72" actId="14100"/>
          <ac:spMkLst>
            <pc:docMk/>
            <pc:sldMk cId="0" sldId="261"/>
            <ac:spMk id="8" creationId="{00000000-0000-0000-0000-000000000000}"/>
          </ac:spMkLst>
        </pc:spChg>
      </pc:sldChg>
      <pc:sldChg chg="addSp delSp modSp mod">
        <pc:chgData name="Mariam Adetoyi" userId="7e81e1d6fa8fc368" providerId="LiveId" clId="{3C3DC834-3685-4743-B832-70FC510EA59C}" dt="2026-09-05T14:44:04.132" v="95" actId="14100"/>
        <pc:sldMkLst>
          <pc:docMk/>
          <pc:sldMk cId="0" sldId="262"/>
        </pc:sldMkLst>
        <pc:spChg chg="mod">
          <ac:chgData name="Mariam Adetoyi" userId="7e81e1d6fa8fc368" providerId="LiveId" clId="{3C3DC834-3685-4743-B832-70FC510EA59C}" dt="2026-09-05T14:33:41.095" v="76" actId="14100"/>
          <ac:spMkLst>
            <pc:docMk/>
            <pc:sldMk cId="0" sldId="262"/>
            <ac:spMk id="8" creationId="{00000000-0000-0000-0000-000000000000}"/>
          </ac:spMkLst>
        </pc:spChg>
        <pc:picChg chg="add mod">
          <ac:chgData name="Mariam Adetoyi" userId="7e81e1d6fa8fc368" providerId="LiveId" clId="{3C3DC834-3685-4743-B832-70FC510EA59C}" dt="2026-09-05T14:44:04.132" v="95" actId="14100"/>
          <ac:picMkLst>
            <pc:docMk/>
            <pc:sldMk cId="0" sldId="262"/>
            <ac:picMk id="15" creationId="{9A044202-F065-D31E-7D4D-DBF59FAE50BC}"/>
          </ac:picMkLst>
        </pc:picChg>
      </pc:sldChg>
      <pc:sldChg chg="modSp mod">
        <pc:chgData name="Mariam Adetoyi" userId="7e81e1d6fa8fc368" providerId="LiveId" clId="{3C3DC834-3685-4743-B832-70FC510EA59C}" dt="2026-09-05T14:46:06.273" v="111" actId="14100"/>
        <pc:sldMkLst>
          <pc:docMk/>
          <pc:sldMk cId="0" sldId="263"/>
        </pc:sldMkLst>
        <pc:spChg chg="mod">
          <ac:chgData name="Mariam Adetoyi" userId="7e81e1d6fa8fc368" providerId="LiveId" clId="{3C3DC834-3685-4743-B832-70FC510EA59C}" dt="2026-09-05T14:46:00.841" v="110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46:06.273" v="111" actId="14100"/>
          <ac:spMkLst>
            <pc:docMk/>
            <pc:sldMk cId="0" sldId="263"/>
            <ac:spMk id="8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45:55.907" v="109" actId="14100"/>
          <ac:spMkLst>
            <pc:docMk/>
            <pc:sldMk cId="0" sldId="263"/>
            <ac:spMk id="9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45:46.196" v="107" actId="1410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Mariam Adetoyi" userId="7e81e1d6fa8fc368" providerId="LiveId" clId="{3C3DC834-3685-4743-B832-70FC510EA59C}" dt="2026-09-05T14:45:51.751" v="108" actId="14100"/>
          <ac:spMkLst>
            <pc:docMk/>
            <pc:sldMk cId="0" sldId="263"/>
            <ac:spMk id="11" creationId="{00000000-0000-0000-0000-000000000000}"/>
          </ac:spMkLst>
        </pc:spChg>
      </pc:sldChg>
      <pc:sldChg chg="addSp delSp modSp mod">
        <pc:chgData name="Mariam Adetoyi" userId="7e81e1d6fa8fc368" providerId="LiveId" clId="{3C3DC834-3685-4743-B832-70FC510EA59C}" dt="2026-09-05T14:50:18.023" v="118" actId="14100"/>
        <pc:sldMkLst>
          <pc:docMk/>
          <pc:sldMk cId="0" sldId="264"/>
        </pc:sldMkLst>
        <pc:picChg chg="add mod">
          <ac:chgData name="Mariam Adetoyi" userId="7e81e1d6fa8fc368" providerId="LiveId" clId="{3C3DC834-3685-4743-B832-70FC510EA59C}" dt="2026-09-05T14:50:18.023" v="118" actId="14100"/>
          <ac:picMkLst>
            <pc:docMk/>
            <pc:sldMk cId="0" sldId="264"/>
            <ac:picMk id="12" creationId="{B84DD299-39B3-DDED-0F36-5244A035002E}"/>
          </ac:picMkLst>
        </pc:picChg>
      </pc:sldChg>
      <pc:sldChg chg="modSp mod">
        <pc:chgData name="Mariam Adetoyi" userId="7e81e1d6fa8fc368" providerId="LiveId" clId="{3C3DC834-3685-4743-B832-70FC510EA59C}" dt="2026-09-12T06:44:29.386" v="181" actId="14100"/>
        <pc:sldMkLst>
          <pc:docMk/>
          <pc:sldMk cId="0" sldId="265"/>
        </pc:sldMkLst>
        <pc:spChg chg="mod">
          <ac:chgData name="Mariam Adetoyi" userId="7e81e1d6fa8fc368" providerId="LiveId" clId="{3C3DC834-3685-4743-B832-70FC510EA59C}" dt="2026-09-12T06:44:29.386" v="181" actId="1410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ariam Adetoyi" userId="7e81e1d6fa8fc368" providerId="LiveId" clId="{3C3DC834-3685-4743-B832-70FC510EA59C}" dt="2026-09-12T06:44:19.114" v="180" actId="1410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Mariam Adetoyi" userId="7e81e1d6fa8fc368" providerId="LiveId" clId="{3C3DC834-3685-4743-B832-70FC510EA59C}" dt="2026-09-12T06:43:37.424" v="175" actId="14100"/>
          <ac:spMkLst>
            <pc:docMk/>
            <pc:sldMk cId="0" sldId="265"/>
            <ac:spMk id="20" creationId="{00000000-0000-0000-0000-000000000000}"/>
          </ac:spMkLst>
        </pc:spChg>
        <pc:spChg chg="mod">
          <ac:chgData name="Mariam Adetoyi" userId="7e81e1d6fa8fc368" providerId="LiveId" clId="{3C3DC834-3685-4743-B832-70FC510EA59C}" dt="2026-09-12T06:42:37.855" v="171" actId="14100"/>
          <ac:spMkLst>
            <pc:docMk/>
            <pc:sldMk cId="0" sldId="265"/>
            <ac:spMk id="24" creationId="{00000000-0000-0000-0000-000000000000}"/>
          </ac:spMkLst>
        </pc:spChg>
        <pc:spChg chg="mod">
          <ac:chgData name="Mariam Adetoyi" userId="7e81e1d6fa8fc368" providerId="LiveId" clId="{3C3DC834-3685-4743-B832-70FC510EA59C}" dt="2026-09-12T06:43:58.662" v="178" actId="14100"/>
          <ac:spMkLst>
            <pc:docMk/>
            <pc:sldMk cId="0" sldId="265"/>
            <ac:spMk id="25" creationId="{00000000-0000-0000-0000-000000000000}"/>
          </ac:spMkLst>
        </pc:spChg>
      </pc:sldChg>
      <pc:sldChg chg="addSp delSp modSp mod">
        <pc:chgData name="Mariam Adetoyi" userId="7e81e1d6fa8fc368" providerId="LiveId" clId="{3C3DC834-3685-4743-B832-70FC510EA59C}" dt="2026-09-13T17:59:15.979" v="184" actId="478"/>
        <pc:sldMkLst>
          <pc:docMk/>
          <pc:sldMk cId="0" sldId="266"/>
        </pc:sldMkLst>
        <pc:spChg chg="del mod">
          <ac:chgData name="Mariam Adetoyi" userId="7e81e1d6fa8fc368" providerId="LiveId" clId="{3C3DC834-3685-4743-B832-70FC510EA59C}" dt="2026-09-13T17:59:03.529" v="183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Mariam Adetoyi" userId="7e81e1d6fa8fc368" providerId="LiveId" clId="{3C3DC834-3685-4743-B832-70FC510EA59C}" dt="2026-09-13T17:59:15.979" v="184" actId="478"/>
          <ac:spMkLst>
            <pc:docMk/>
            <pc:sldMk cId="0" sldId="266"/>
            <ac:spMk id="5" creationId="{00000000-0000-0000-0000-000000000000}"/>
          </ac:spMkLst>
        </pc:spChg>
        <pc:picChg chg="add mod">
          <ac:chgData name="Mariam Adetoyi" userId="7e81e1d6fa8fc368" providerId="LiveId" clId="{3C3DC834-3685-4743-B832-70FC510EA59C}" dt="2026-09-05T14:52:41.031" v="126" actId="14100"/>
          <ac:picMkLst>
            <pc:docMk/>
            <pc:sldMk cId="0" sldId="266"/>
            <ac:picMk id="13" creationId="{D978007F-70AE-C9A3-5858-79F8411BCFFC}"/>
          </ac:picMkLst>
        </pc:picChg>
        <pc:picChg chg="add mod">
          <ac:chgData name="Mariam Adetoyi" userId="7e81e1d6fa8fc368" providerId="LiveId" clId="{3C3DC834-3685-4743-B832-70FC510EA59C}" dt="2026-09-05T14:57:51.277" v="137" actId="14100"/>
          <ac:picMkLst>
            <pc:docMk/>
            <pc:sldMk cId="0" sldId="266"/>
            <ac:picMk id="15" creationId="{B8C0ED2E-A02D-D8F5-EC9B-32BA537F1B39}"/>
          </ac:picMkLst>
        </pc:picChg>
      </pc:sldChg>
      <pc:sldChg chg="delSp modSp add mod modClrScheme chgLayout">
        <pc:chgData name="Mariam Adetoyi" userId="7e81e1d6fa8fc368" providerId="LiveId" clId="{3C3DC834-3685-4743-B832-70FC510EA59C}" dt="2026-09-13T18:00:39.310" v="191" actId="478"/>
        <pc:sldMkLst>
          <pc:docMk/>
          <pc:sldMk cId="0" sldId="268"/>
        </pc:sldMkLst>
        <pc:spChg chg="del mod">
          <ac:chgData name="Mariam Adetoyi" userId="7e81e1d6fa8fc368" providerId="LiveId" clId="{3C3DC834-3685-4743-B832-70FC510EA59C}" dt="2026-09-13T18:00:35.641" v="190" actId="478"/>
          <ac:spMkLst>
            <pc:docMk/>
            <pc:sldMk cId="0" sldId="268"/>
            <ac:spMk id="4" creationId="{00000000-0000-0000-0000-000000000000}"/>
          </ac:spMkLst>
        </pc:spChg>
        <pc:spChg chg="del">
          <ac:chgData name="Mariam Adetoyi" userId="7e81e1d6fa8fc368" providerId="LiveId" clId="{3C3DC834-3685-4743-B832-70FC510EA59C}" dt="2026-09-13T18:00:39.310" v="191" actId="478"/>
          <ac:spMkLst>
            <pc:docMk/>
            <pc:sldMk cId="0" sldId="268"/>
            <ac:spMk id="5" creationId="{00000000-0000-0000-0000-000000000000}"/>
          </ac:spMkLst>
        </pc:spChg>
        <pc:spChg chg="mod ord">
          <ac:chgData name="Mariam Adetoyi" userId="7e81e1d6fa8fc368" providerId="LiveId" clId="{3C3DC834-3685-4743-B832-70FC510EA59C}" dt="2026-09-11T18:29:15.045" v="168" actId="700"/>
          <ac:spMkLst>
            <pc:docMk/>
            <pc:sldMk cId="0" sldId="268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819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016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65653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VitalLink Telehealth Analytics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3368" y="-9767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mnt/data/ae83d60d-457e-4798-80bd-644636e7c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9347"/>
            <a:ext cx="1463040" cy="6683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727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VitalLink Telehealth Solutions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31520" y="2057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6F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Remote Patient Monitoring Optimization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49808" y="287121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Improving Patient Response Care SLAs &amp; Monitoring Telehealth Fleet Stability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354787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Healthcare Technology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3547872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980944" y="361188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Tableau Analytics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68096" y="52578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Prepared by POD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Lead Healthcare Data Analyst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e83d60d-457e-4798-80bd-644636e7c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74" y="320040"/>
            <a:ext cx="1300988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896112"/>
            <a:ext cx="9464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Company &amp; Project Background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066544" y="1417320"/>
            <a:ext cx="918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</a:rPr>
              <a:t>Why this analysis matters for a remote patient monitoring provider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057400" y="1764792"/>
            <a:ext cx="9372600" cy="0"/>
          </a:xfrm>
          <a:prstGeom prst="line">
            <a:avLst/>
          </a:prstGeom>
          <a:noFill/>
          <a:ln w="1524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333756" y="2130553"/>
            <a:ext cx="3063240" cy="33832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Text 4"/>
          <p:cNvSpPr/>
          <p:nvPr/>
        </p:nvSpPr>
        <p:spPr>
          <a:xfrm>
            <a:off x="850392" y="222199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Who is VitalLink?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9214" y="2615185"/>
            <a:ext cx="2734056" cy="22673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VitalLink is a remote patient monitoring technology provider serving hospital networks, chronic disease clinics and home-health providers. Its devices support clinical monitoring for conditions such as Diabetes and Hypertension.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69080" y="2057400"/>
            <a:ext cx="3254746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233672" y="2221992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How the service works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25046" y="2587752"/>
            <a:ext cx="2874494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Patient wearables collect vital readings such as Blood Pressure, Glucose, Pulse and Oxygen. When readings trigger alerts, clinicians review them and decide whether intervention is needed.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95910" y="2084832"/>
            <a:ext cx="347981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3" name="Text 10"/>
          <p:cNvSpPr/>
          <p:nvPr/>
        </p:nvSpPr>
        <p:spPr>
          <a:xfrm>
            <a:off x="8074152" y="2221992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Why action is urgent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47822" y="2615185"/>
            <a:ext cx="3163306" cy="23363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Rising alert volumes and delayed intervention complaints indicate visibility gaps in alert queues, SLA performance and device-warning behaviour.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39312" y="3785616"/>
            <a:ext cx="347472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7562088" y="3785616"/>
            <a:ext cx="347472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e83d60d-457e-4798-80bd-644636e7c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74" y="320040"/>
            <a:ext cx="1300988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896112"/>
            <a:ext cx="9464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 &amp; Abbreviations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77240" y="1938528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941832" y="2075688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6FEB"/>
                </a:solidFill>
              </a:rPr>
              <a:t>Remote Patient Monitoring (RPM)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41832" y="2441448"/>
            <a:ext cx="31912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Technology used to monitor patient health remotely using connected devices.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4526280" y="1938528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690872" y="2075688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64545"/>
                </a:solidFill>
              </a:rPr>
              <a:t>Service Level Agreement (SLA)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90872" y="2441448"/>
            <a:ext cx="30083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The required response-time standard for reviewing patient alerts.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8092440" y="1938528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8257032" y="2075688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Key Performance Indicator (KPI)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2441448"/>
            <a:ext cx="30083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A measurable value used to track clinical or operational performance.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777240" y="3493008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941832" y="3630168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</a:rPr>
              <a:t>Registered Nurse (RN)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41832" y="3995928"/>
            <a:ext cx="31912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A qualified nursing professional involved in reviewing or managing patient alerts.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4526280" y="3493008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690872" y="3630168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</a:rPr>
              <a:t>Medical Doctor (MD)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90872" y="3995928"/>
            <a:ext cx="30083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A qualified physician involved in clinical review and patient-care decisions.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8092440" y="3493008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8257032" y="3630168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6FEB"/>
                </a:solidFill>
              </a:rPr>
              <a:t>Identifier (ID)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57032" y="3995928"/>
            <a:ext cx="30083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A unique code used to distinguish records such as patients, clinicians, devices and alerts.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960120" y="555955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</a:rPr>
              <a:t>Approach: each abbreviation is written in full the first time it appears, then the short form is used afterwards.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e83d60d-457e-4798-80bd-644636e7c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74" y="320040"/>
            <a:ext cx="1300988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896112"/>
            <a:ext cx="9464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Problem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066544" y="1417320"/>
            <a:ext cx="918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</a:rPr>
              <a:t>The problem is not lack of data — it is lack of operational visibility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2029968"/>
            <a:ext cx="33375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96112" y="2167128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64545"/>
                </a:solidFill>
              </a:rPr>
              <a:t>Alert Overload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6112" y="2532888"/>
            <a:ext cx="3008376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Critical and non-critical alerts are mixed in one queue, increasing the risk of alarm fatigue and missed prioritisation.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2029968"/>
            <a:ext cx="33375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599432" y="2167128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SLA Blind Spots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99432" y="2532888"/>
            <a:ext cx="3008376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Management cannot quickly see which hubs, clinicians or alert types are missing the 2-hour target for high-priority reviews.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38160" y="2029968"/>
            <a:ext cx="33375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8302752" y="2167128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6FEB"/>
                </a:solidFill>
              </a:rPr>
              <a:t>Device Status Disconnect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02752" y="2532888"/>
            <a:ext cx="3008376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Limited visibility into model, battery and connectivity patterns makes it hard to identify whether device issues are creating unnecessary warning alerts.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54864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Business risk: slower clinical response → compliance exposure → patient safety risk → client dissatisfaction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e83d60d-457e-4798-80bd-644636e7c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74" y="320040"/>
            <a:ext cx="1300988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6305" y="987551"/>
            <a:ext cx="8469415" cy="66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 &amp; Analyst Role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1520" y="2011680"/>
            <a:ext cx="49377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96112" y="2148840"/>
            <a:ext cx="460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Project Objective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6112" y="2514600"/>
            <a:ext cx="4608576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Identify the drivers of alert overload, evaluate clinician response performance against the 2-hour SLA, and determine whether device health is contributing to excessive warning alerts.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2011680"/>
            <a:ext cx="54406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153912" y="2148840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324D"/>
                </a:solidFill>
              </a:rPr>
              <a:t>Our Role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53912" y="2514600"/>
            <a:ext cx="5111496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Model patient, clinician, device and alert data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Build SLA and response-time calculations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Analyse patient-risk and alert patterns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Evaluate hub and clinician performance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Build a 2-page interactive Tableau dashboard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Present insights and recommendations</a:t>
            </a:r>
            <a:endParaRPr lang="en-US" sz="10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e83d60d-457e-4798-80bd-644636e7c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74" y="320040"/>
            <a:ext cx="1300988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896112"/>
            <a:ext cx="9464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Model &amp; Analytical Approach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77240" y="2029968"/>
            <a:ext cx="19659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914400" y="21579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7324D"/>
                </a:solidFill>
              </a:rPr>
              <a:t>Alert Records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14400" y="24140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</a:rPr>
              <a:t>10,500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880360" y="2029968"/>
            <a:ext cx="19659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3017520" y="21579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7324D"/>
                </a:solidFill>
              </a:rPr>
              <a:t>Patients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017520" y="24140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</a:rPr>
              <a:t>5,000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983480" y="2029968"/>
            <a:ext cx="19659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120640" y="21579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7324D"/>
                </a:solidFill>
              </a:rPr>
              <a:t>Clinicians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120640" y="24140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</a:rPr>
              <a:t>12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086600" y="2029968"/>
            <a:ext cx="19659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223760" y="21579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7324D"/>
                </a:solidFill>
              </a:rPr>
              <a:t>Devices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223760" y="24140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</a:rPr>
              <a:t>40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189720" y="2029968"/>
            <a:ext cx="19659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9326880" y="21579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7324D"/>
                </a:solidFill>
              </a:rPr>
              <a:t>Period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326880" y="24140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</a:rPr>
              <a:t>Jan 2026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77240" y="32461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2" name="Text 19"/>
          <p:cNvSpPr/>
          <p:nvPr/>
        </p:nvSpPr>
        <p:spPr>
          <a:xfrm>
            <a:off x="941832" y="3383280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Patient Dimension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1832" y="3749040"/>
            <a:ext cx="2414016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PatientID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PatientAge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PatientCity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Primary Condition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804249" y="3246120"/>
            <a:ext cx="2414016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5" name="Text 22"/>
          <p:cNvSpPr/>
          <p:nvPr/>
        </p:nvSpPr>
        <p:spPr>
          <a:xfrm>
            <a:off x="3867912" y="3383280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6FEB"/>
                </a:solidFill>
              </a:rPr>
              <a:t>Alert Fact Table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867912" y="3749040"/>
            <a:ext cx="2414016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AlertID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AlertDate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VitalType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AlertSeverity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Response Time Hrs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643634" y="3246120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6793992" y="3383280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Clinician Dimension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51530" y="3703320"/>
            <a:ext cx="199477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ClinicianID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ClinicianName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Grade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Hub Region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189720" y="3246120"/>
            <a:ext cx="2148840" cy="237744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1" name="Text 28"/>
          <p:cNvSpPr/>
          <p:nvPr/>
        </p:nvSpPr>
        <p:spPr>
          <a:xfrm>
            <a:off x="9262872" y="3383280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Device Dimension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04086" y="3749040"/>
            <a:ext cx="1769881" cy="137505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DeviceID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Model 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Connectivity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Battery Status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520440" y="4462272"/>
            <a:ext cx="18288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6362844" y="4462272"/>
            <a:ext cx="18288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8938260" y="4462272"/>
            <a:ext cx="22860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e83d60d-457e-4798-80bd-644636e7c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74" y="320040"/>
            <a:ext cx="1300988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896112"/>
            <a:ext cx="9464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Structure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77240" y="196596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Text 4"/>
          <p:cNvSpPr/>
          <p:nvPr/>
        </p:nvSpPr>
        <p:spPr>
          <a:xfrm>
            <a:off x="941832" y="2103120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6FEB"/>
                </a:solidFill>
              </a:rPr>
              <a:t>Page 1 — Patient Alert Profile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0872" y="2468880"/>
            <a:ext cx="4640034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Purpose: Understand alert volume, severity and patient-risk concentration.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KPIs: Total Alerts, Critical Alerts, Critical %, Warning Alerts, Patients with Alerts.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Charts: Severity Distribution, Vital Type, Age Group &amp; Condition, Critical Alerts by City.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5080" y="196596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519672" y="210312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6FEB"/>
                </a:solidFill>
              </a:rPr>
              <a:t>Page 2 — Clinical SLA &amp; Device Health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19672" y="2468880"/>
            <a:ext cx="4791456" cy="3310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7"/>
                </a:solidFill>
              </a:rPr>
              <a:t>Purpose: Measure response efficiency and test whether devices are contributing to warning-alert load.</a:t>
            </a:r>
            <a:endParaRPr lang="en-US" sz="1070" dirty="0"/>
          </a:p>
          <a:p>
            <a:pPr marL="0" indent="0">
              <a:buNone/>
            </a:pP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F2937"/>
                </a:solidFill>
              </a:rPr>
              <a:t>KPIs: Overall Response, Overall SLA %, SLA Breaches, Critical SLA %, Warning Rate.</a:t>
            </a:r>
            <a:endParaRPr lang="en-US" sz="1070" dirty="0"/>
          </a:p>
          <a:p>
            <a:pPr marL="0" indent="0">
              <a:buNone/>
            </a:pP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F2937"/>
                </a:solidFill>
              </a:rPr>
              <a:t>Charts: Critical Response by Hub, Clinician Workload, Warning Rate by Model, Battery vs Warning Rate.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e83d60d-457e-4798-80bd-644636e7c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74" y="320040"/>
            <a:ext cx="1300988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896112"/>
            <a:ext cx="9464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Alert Findings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066544" y="1417320"/>
            <a:ext cx="918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</a:rPr>
              <a:t>Page 1 insights: severity, vital signs and patient-risk concentration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057400" y="1764792"/>
            <a:ext cx="9372600" cy="0"/>
          </a:xfrm>
          <a:prstGeom prst="line">
            <a:avLst/>
          </a:prstGeom>
          <a:noFill/>
          <a:ln w="1524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685800" y="2011680"/>
            <a:ext cx="3246120" cy="352044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50392" y="2148840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0392" y="2496312"/>
            <a:ext cx="2916936" cy="24725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• 10,500 alerts were generated in January 2026.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• 1,591 alerts were Critical, representing 15.2% of total workload.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• Warning alerts accounted for 34.9% of all alerts.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• Blood Pressure generated the highest alert count, but the spread across vital types was narrow.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• New York recorded the most Critical alerts, closely followed by Chicago.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044202-F065-D31E-7D4D-DBF59FAE5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207" y="2011680"/>
            <a:ext cx="7417181" cy="43368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e83d60d-457e-4798-80bd-644636e7c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74" y="320040"/>
            <a:ext cx="1300988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896112"/>
            <a:ext cx="9464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SLA &amp; Workforce Findings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066544" y="1417320"/>
            <a:ext cx="918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</a:rPr>
              <a:t>Page 2 insights: response timing, SLA compliance and clinician workload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057400" y="1764792"/>
            <a:ext cx="9372600" cy="0"/>
          </a:xfrm>
          <a:prstGeom prst="line">
            <a:avLst/>
          </a:prstGeom>
          <a:noFill/>
          <a:ln w="1524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685800" y="1965960"/>
            <a:ext cx="4507302" cy="37490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50392" y="2103120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Operational Findings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0391" y="2468880"/>
            <a:ext cx="4083917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• Overall SLA compliance is low at 19.8% because Normal alerts take much longer to close.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• Critical alerts are responded to faster: hub averages sit below the 2-hour target.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• Critical SLA compliance is 54.2%, meaning almost half of Critical alerts still miss the SLA.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• North Hub performs best at 57.1%; West Hub is weakest at 51.6%.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6504317" y="1965959"/>
            <a:ext cx="4837290" cy="3830991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685472" y="2103120"/>
            <a:ext cx="4534215" cy="303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6FEB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85471" y="2468880"/>
            <a:ext cx="3459191" cy="271559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The response problem is not only about average time. Although Critical alerts have an average response below 2 hours, the compliance rate shows many individual Critical cases still exceed the target. This suggests VitalLink needs tighter real-time SLA monitoring and escalation, not just summary response-time reporting.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e83d60d-457e-4798-80bd-644636e7c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74" y="320040"/>
            <a:ext cx="1300988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896112"/>
            <a:ext cx="9464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Device Health Findings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066544" y="1417320"/>
            <a:ext cx="918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</a:rPr>
              <a:t>Testing the hypothesis that device issues are driving warning-alert volume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057400" y="1764792"/>
            <a:ext cx="9372600" cy="0"/>
          </a:xfrm>
          <a:prstGeom prst="line">
            <a:avLst/>
          </a:prstGeom>
          <a:noFill/>
          <a:ln w="1524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3"/>
          <p:cNvSpPr/>
          <p:nvPr/>
        </p:nvSpPr>
        <p:spPr>
          <a:xfrm>
            <a:off x="5989320" y="2011680"/>
            <a:ext cx="54406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/>
          <p:nvPr/>
        </p:nvSpPr>
        <p:spPr>
          <a:xfrm>
            <a:off x="6153912" y="2148840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Device Investigation Results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53912" y="2514600"/>
            <a:ext cx="5111496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CelluPulse Pro has the highest Warning Alert Rate at 37.0%.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GlucoTrack X has the lowest at 33.3%.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The model spread is modest, so no single model appears to dominate the issue.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Battery level shows little visible relationship with Warning Alert Rate.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Bluetooth and Cellular devices follow similar patterns.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68680" y="59893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</a:rPr>
              <a:t>Conclusion: device condition may contribute in specific cases, but battery and connectivity are unlikely to be the main drivers of warning-alert volume.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4DD299-39B3-DDED-0F36-5244A0350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291" y="2011678"/>
            <a:ext cx="5534437" cy="35661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e83d60d-457e-4798-80bd-644636e7c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74" y="320040"/>
            <a:ext cx="1300988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896112"/>
            <a:ext cx="9464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 &amp; Business Impact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066544" y="1417320"/>
            <a:ext cx="918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</a:rPr>
              <a:t>Actions the Clinical Operations Board can take from the analysis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057400" y="1764792"/>
            <a:ext cx="9372600" cy="0"/>
          </a:xfrm>
          <a:prstGeom prst="line">
            <a:avLst/>
          </a:prstGeom>
          <a:noFill/>
          <a:ln w="1524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22960" y="20025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325880" y="1975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Separate priority queues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395728"/>
            <a:ext cx="4983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987552" y="2542032"/>
            <a:ext cx="3886373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Create a Critical-alert queue and escalation rule so high-priority cases are not buried among Normal and Warning alerts.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1920240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400800" y="20025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03720" y="1975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Monitor Critical SLA in real time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0" y="2395728"/>
            <a:ext cx="4983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565392" y="2542032"/>
            <a:ext cx="3813048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Track Critical SLA compliance by hub and clinician daily, with alerts when compliance drops below target.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822960" y="39684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325880" y="3941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Review workload distribution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22960" y="4361688"/>
            <a:ext cx="4983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987552" y="4507992"/>
            <a:ext cx="371384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Use clinician workload and SLA performance together to identify staffing pressure, training needs or process bottlenecks.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0" y="3886200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400800" y="39684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03720" y="3941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Target device review, not blanket replacement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76513" y="4361688"/>
            <a:ext cx="5207767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400800" y="4507992"/>
            <a:ext cx="3847381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Prioritise review of higher-warning models such as </a:t>
            </a:r>
            <a:r>
              <a:rPr lang="en-US" sz="1100" dirty="0" err="1">
                <a:solidFill>
                  <a:srgbClr val="1F2937"/>
                </a:solidFill>
              </a:rPr>
              <a:t>CelluPulse</a:t>
            </a:r>
            <a:r>
              <a:rPr lang="en-US" sz="1100" dirty="0">
                <a:solidFill>
                  <a:srgbClr val="1F2937"/>
                </a:solidFill>
              </a:rPr>
              <a:t> Pro  but avoid assuming low battery/connectivity is the main cause without stronger evidence.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e83d60d-457e-4798-80bd-644636e7c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74" y="320040"/>
            <a:ext cx="1300988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896112"/>
            <a:ext cx="9464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Tableau Dashboard Screenshots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85800" y="58064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Page 1 — Patient Alert Profile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263640" y="58064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Page 2 — Clinical SLA &amp; Device Health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78007F-70AE-C9A3-5858-79F8411BC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558" y="1965960"/>
            <a:ext cx="5388922" cy="37033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C0ED2E-A02D-D8F5-EC9B-32BA537F1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678" y="1965960"/>
            <a:ext cx="5388922" cy="37373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1087</Words>
  <Application>Microsoft Office PowerPoint</Application>
  <PresentationFormat>Widescreen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VitalLink Telehealth Solutions — Remote Patient Monitoring Optimization</dc:title>
  <dc:subject>VitalLink Telehealth Analytics Project Presentation</dc:subject>
  <dc:creator>OpenAI</dc:creator>
  <cp:lastModifiedBy>Mariam Adetoyi</cp:lastModifiedBy>
  <cp:revision>1</cp:revision>
  <dcterms:created xsi:type="dcterms:W3CDTF">2026-09-05T12:27:13Z</dcterms:created>
  <dcterms:modified xsi:type="dcterms:W3CDTF">2026-09-13T18:00:46Z</dcterms:modified>
</cp:coreProperties>
</file>